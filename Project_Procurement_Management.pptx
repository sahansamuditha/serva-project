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6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4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6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5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9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2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1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4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1363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05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088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77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01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4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2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6007" y="1257823"/>
            <a:ext cx="5826719" cy="1646302"/>
          </a:xfrm>
        </p:spPr>
        <p:txBody>
          <a:bodyPr/>
          <a:lstStyle/>
          <a:p>
            <a:pPr algn="ctr"/>
            <a:r>
              <a:rPr sz="4800" b="1" dirty="0">
                <a:solidFill>
                  <a:srgbClr val="FF0000"/>
                </a:solidFill>
                <a:latin typeface="Garamond" panose="02020404030301010803" pitchFamily="18" charset="0"/>
              </a:rPr>
              <a:t>Project Procurement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5791" y="3528309"/>
            <a:ext cx="6326007" cy="1096899"/>
          </a:xfrm>
        </p:spPr>
        <p:txBody>
          <a:bodyPr>
            <a:normAutofit/>
          </a:bodyPr>
          <a:lstStyle/>
          <a:p>
            <a:pPr algn="ctr"/>
            <a:r>
              <a:rPr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Buying/outsourcing what your project needs from outside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FCF89-7386-439E-5878-66CEA61526B9}"/>
              </a:ext>
            </a:extLst>
          </p:cNvPr>
          <p:cNvSpPr txBox="1"/>
          <p:nvPr/>
        </p:nvSpPr>
        <p:spPr>
          <a:xfrm>
            <a:off x="4977353" y="5064726"/>
            <a:ext cx="285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Prabath Jayathilaka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234" y="298516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721" y="1611742"/>
            <a:ext cx="6347714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Explain what procurement means in projects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Explain why outsourcing is common in 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List the main procurement process steps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Describe basic contract types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Explain how sellers are selected and managed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088" y="321316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What is Procurement?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914" y="1368739"/>
            <a:ext cx="7139235" cy="42684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Procurement = acquiring goods/services from external sources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Includes purchasing and outsourcing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If it comes from outside your team/company → procurement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/>
              </a:rPr>
              <a:t>	</a:t>
            </a:r>
            <a:r>
              <a:rPr sz="2400" dirty="0">
                <a:latin typeface="Times New Roman"/>
              </a:rPr>
              <a:t>Examples: software licenses, cloud services, </a:t>
            </a:r>
            <a:r>
              <a:rPr lang="en-US" sz="2400" dirty="0">
                <a:latin typeface="Times New Roman"/>
              </a:rPr>
              <a:t>   	</a:t>
            </a:r>
            <a:r>
              <a:rPr sz="2400" dirty="0">
                <a:latin typeface="Times New Roman"/>
              </a:rPr>
              <a:t>consultants, vendors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100" y="375148"/>
            <a:ext cx="672900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Why Procurement is Important in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100" y="1941679"/>
            <a:ext cx="6884710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IT projects often depend on external tools and services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Need specialized skills (security, AI, UX) quickly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Hardware/platforms may be cheaper to buy than build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Outsourcing is widely used in </a:t>
            </a:r>
            <a:r>
              <a:rPr lang="en-US" sz="2400" dirty="0">
                <a:latin typeface="Times New Roman"/>
              </a:rPr>
              <a:t>the </a:t>
            </a:r>
            <a:r>
              <a:rPr sz="2400" dirty="0">
                <a:latin typeface="Times New Roman"/>
              </a:rPr>
              <a:t>industry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514" y="268139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Outsourcing — Real World 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08" y="1934347"/>
            <a:ext cx="6828149" cy="376887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Some organizations avoid outsourcing to keep control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Many outsource but keep core operations in-house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Contract/temporary workforce is increasing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Outsourcing decisions depend on cost, risk, and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73" y="336223"/>
            <a:ext cx="7233502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Why Do Organizations Outsource?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06066"/>
            <a:ext cx="6347714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Reduce costs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Focus on core business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Access skills and technology quickly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Increase flexibility (scale up/down)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Improve accountability through contracts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368" y="384576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Contracts (Core 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366" y="1347789"/>
            <a:ext cx="6978979" cy="4430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 contract is a legal agreement between buyer and seller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It clarifies deliverables, schedule, payment</a:t>
            </a:r>
            <a:r>
              <a:rPr lang="en-US" sz="2400" dirty="0">
                <a:latin typeface="Times New Roman"/>
              </a:rPr>
              <a:t>,</a:t>
            </a:r>
            <a:r>
              <a:rPr sz="2400" dirty="0">
                <a:latin typeface="Times New Roman"/>
              </a:rPr>
              <a:t> and responsibilities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Acceptance criteria should be clear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Good contracts reduce misunderstandings and risk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674" y="373930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Procurement Management Process (6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066321"/>
            <a:ext cx="6507638" cy="40139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Plan purchases &amp; acquisitions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Plan contracting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Request seller responses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Select sellers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Administer contracts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Close contracts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833" y="373930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Step 1 — Plan Purchases &amp; Acquisitions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2479" cy="40878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Identify what the project needs from </a:t>
            </a:r>
            <a:r>
              <a:rPr lang="en-US" sz="2400" dirty="0">
                <a:latin typeface="Times New Roman"/>
              </a:rPr>
              <a:t>the </a:t>
            </a:r>
            <a:r>
              <a:rPr sz="2400" dirty="0">
                <a:latin typeface="Times New Roman"/>
              </a:rPr>
              <a:t>outside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Decide what should be done internally vs externally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Consider time, cost, skills, tools, and risk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If no external need → minimal procurement 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394" y="204247"/>
            <a:ext cx="6715028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Make-or-Buy Analysis (Decision Tool)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502" y="1774091"/>
            <a:ext cx="7751976" cy="4285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Used to decide: build in-house vs buy/lease externally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Compare total cost over time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/>
              </a:rPr>
              <a:t>     </a:t>
            </a:r>
            <a:r>
              <a:rPr sz="2400" dirty="0">
                <a:latin typeface="Times New Roman"/>
              </a:rPr>
              <a:t>Example: Lease $800/day vs Buy $12,000 + $400/day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Break-even shows when buying becomes cheaper than leasing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76" y="147686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Procurement Documents (What You Prepare)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76" y="1887213"/>
            <a:ext cx="7044966" cy="43234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SOW: Statement of Work (what work must be done)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RFP: Request for Proposal (vendors propose solutions + cost)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RFQ: Request for Quotation (vendors provide price for known specs)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Contract terms and conditions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380" y="307943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SOW (Statement of Work) — What to 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196" y="1906066"/>
            <a:ext cx="6875283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Scope (included &amp; excluded work)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Deliverables + schedule/milestones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Acceptance criteria (how you verify completion)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Special requirements (security, standards, documentation)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05905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Selecting Sellers (How to Choose a Vendor)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837576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Receive proposals/quotes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Evaluate using criteria and scoring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Negotiate terms (cost, schedule, scope, support)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Award contract to best-value seller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515" y="402210"/>
            <a:ext cx="7049514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Evaluation Criteria (Common)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758" y="1604408"/>
            <a:ext cx="6347714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Price (but not always </a:t>
            </a:r>
            <a:r>
              <a:rPr lang="en-US" sz="2400" dirty="0">
                <a:latin typeface="Times New Roman"/>
              </a:rPr>
              <a:t>the </a:t>
            </a:r>
            <a:r>
              <a:rPr sz="2400" dirty="0">
                <a:latin typeface="Times New Roman"/>
              </a:rPr>
              <a:t>cheapest is best)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Past performance/portfolio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Technical approach and quality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Timeline and capacity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Support, warranty, certifications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991" y="289088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Types of Contracts (Easy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756" y="1962627"/>
            <a:ext cx="7101529" cy="40878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Fixed Price/Lump Sum: one total cost (scope clear)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Cost Reimbursable: pay costs + fee (scope uncertain)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Time &amp; Material (T&amp;M): pay by hours/days + materials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Unit Price: fixed price per unit delivered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514" y="307943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Administering Contracts (During the Project)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Track milestones and deliverables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Check quality and performance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Approve payments after acceptance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Keep records and communication documented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222" y="411637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Change Control (Very Common in 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95069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Any scope change should be written and reviewed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Analyze </a:t>
            </a:r>
            <a:r>
              <a:rPr lang="en-US" sz="2400" dirty="0">
                <a:latin typeface="Times New Roman"/>
              </a:rPr>
              <a:t>the </a:t>
            </a:r>
            <a:r>
              <a:rPr sz="2400" dirty="0">
                <a:latin typeface="Times New Roman"/>
              </a:rPr>
              <a:t>impact on cost/time/scope/quality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Approve/reject formally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Update contract/SOW if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412" y="232527"/>
            <a:ext cx="7148662" cy="13208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Garamond"/>
              </a:rPr>
              <a:t>Closing Contracts (Finish Properly)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521" y="1858933"/>
            <a:ext cx="6969553" cy="40328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Verify all deliverables completed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Get formal acceptance/sign-off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Make final payment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Archive documents and record lessons learned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400" dirty="0">
                <a:latin typeface="Times New Roman"/>
              </a:rPr>
              <a:t>Vendor performance review helps future projects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</TotalTime>
  <Words>637</Words>
  <Application>Microsoft Office PowerPoint</Application>
  <PresentationFormat>On-screen Show (4:3)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Garamond</vt:lpstr>
      <vt:lpstr>Times New Roman</vt:lpstr>
      <vt:lpstr>Trebuchet MS</vt:lpstr>
      <vt:lpstr>Wingdings</vt:lpstr>
      <vt:lpstr>Wingdings 3</vt:lpstr>
      <vt:lpstr>Facet</vt:lpstr>
      <vt:lpstr>Project Procurement Management</vt:lpstr>
      <vt:lpstr>Learning Objectives</vt:lpstr>
      <vt:lpstr>What is Procurement?</vt:lpstr>
      <vt:lpstr>Why Procurement is Important in IT</vt:lpstr>
      <vt:lpstr>Outsourcing — Real World Situation</vt:lpstr>
      <vt:lpstr>Why Do Organizations Outsource?</vt:lpstr>
      <vt:lpstr>Contracts (Core Idea)</vt:lpstr>
      <vt:lpstr>Procurement Management Process (6 Steps)</vt:lpstr>
      <vt:lpstr>Step 1 — Plan Purchases &amp; Acquisitions</vt:lpstr>
      <vt:lpstr>Make-or-Buy Analysis (Decision Tool)</vt:lpstr>
      <vt:lpstr>Procurement Documents (What You Prepare)</vt:lpstr>
      <vt:lpstr>SOW (Statement of Work) — What to Include</vt:lpstr>
      <vt:lpstr>Selecting Sellers (How to Choose a Vendor)</vt:lpstr>
      <vt:lpstr>Evaluation Criteria (Common)</vt:lpstr>
      <vt:lpstr>Types of Contracts (Easy Examples)</vt:lpstr>
      <vt:lpstr>Administering Contracts (During the Project)</vt:lpstr>
      <vt:lpstr>Change Control (Very Common in IT)</vt:lpstr>
      <vt:lpstr>Closing Contracts (Finish Properly)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Prabath</dc:creator>
  <cp:keywords/>
  <dc:description>generated using python-pptx</dc:description>
  <cp:lastModifiedBy>Prabath Jayathilaka</cp:lastModifiedBy>
  <cp:revision>8</cp:revision>
  <dcterms:created xsi:type="dcterms:W3CDTF">2013-01-27T09:14:16Z</dcterms:created>
  <dcterms:modified xsi:type="dcterms:W3CDTF">2026-04-19T14:45:14Z</dcterms:modified>
  <cp:category/>
</cp:coreProperties>
</file>